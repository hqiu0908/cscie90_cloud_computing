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419" r:id="rId3"/>
    <p:sldId id="420" r:id="rId4"/>
    <p:sldId id="426" r:id="rId5"/>
    <p:sldId id="430" r:id="rId6"/>
    <p:sldId id="421" r:id="rId7"/>
    <p:sldId id="425" r:id="rId8"/>
    <p:sldId id="422" r:id="rId9"/>
    <p:sldId id="423" r:id="rId10"/>
    <p:sldId id="424" r:id="rId11"/>
    <p:sldId id="428" r:id="rId12"/>
    <p:sldId id="427" r:id="rId13"/>
    <p:sldId id="429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6" autoAdjust="0"/>
    <p:restoredTop sz="96271"/>
  </p:normalViewPr>
  <p:slideViewPr>
    <p:cSldViewPr>
      <p:cViewPr>
        <p:scale>
          <a:sx n="126" d="100"/>
          <a:sy n="126" d="100"/>
        </p:scale>
        <p:origin x="1264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3E7E92B-59FA-49FB-B014-1669F564A86F}" type="datetimeFigureOut">
              <a:rPr lang="en-US"/>
              <a:pPr>
                <a:defRPr/>
              </a:pPr>
              <a:t>12/15/15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CAD7887-406F-46CC-9589-B5DF14B164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4776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7B8707-E1CD-4CEF-A00B-04778EC3BE00}" type="datetimeFigureOut">
              <a:rPr lang="en-US"/>
              <a:pPr>
                <a:defRPr/>
              </a:pPr>
              <a:t>12/15/15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692987E-3A66-4994-9BE4-8BDBBB69D1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578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50DCA77-AE49-4A9C-A909-3537221CB17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34777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382D7-6004-43C9-AB02-56543EB3FDAB}" type="datetime1">
              <a:rPr lang="en-US"/>
              <a:pPr>
                <a:defRPr/>
              </a:pPr>
              <a:t>12/15/15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066EC-5749-4585-9837-C7D7BD5CB8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151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rgbClr val="0070C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>
            <a:lvl1pPr>
              <a:buClr>
                <a:srgbClr val="0070C0"/>
              </a:buClr>
              <a:buFont typeface="Wingdings" pitchFamily="2" charset="2"/>
              <a:buChar char="§"/>
              <a:defRPr sz="2000" baseline="0"/>
            </a:lvl1pPr>
            <a:lvl2pPr>
              <a:buClr>
                <a:srgbClr val="92D050"/>
              </a:buClr>
              <a:buFont typeface="Wingdings" pitchFamily="2" charset="2"/>
              <a:buChar char="§"/>
              <a:defRPr sz="1800" baseline="0"/>
            </a:lvl2pPr>
            <a:lvl3pPr>
              <a:buClr>
                <a:srgbClr val="FF0000"/>
              </a:buClr>
              <a:buFont typeface="Wingdings" pitchFamily="2" charset="2"/>
              <a:buChar char="§"/>
              <a:defRPr sz="1800" baseline="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10935-C4E4-4A31-A905-CBD3B88B377F}" type="datetime1">
              <a:rPr lang="en-US"/>
              <a:pPr>
                <a:defRPr/>
              </a:pPr>
              <a:t>12/15/15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/>
            </a:lvl1pPr>
          </a:lstStyle>
          <a:p>
            <a:pPr>
              <a:defRPr/>
            </a:pPr>
            <a:fld id="{F8C3E294-9E12-4E24-B275-9BA1AC14E8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220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AA3077-BD5E-4DF2-86F4-B2787C87502F}" type="datetime1">
              <a:rPr lang="en-US"/>
              <a:pPr>
                <a:defRPr/>
              </a:pPr>
              <a:t>12/15/15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6EFB9-832D-41AA-B6AA-BA3FDFDF21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52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9D7AE-2072-4CF1-81AF-6875EEBBE225}" type="datetime1">
              <a:rPr lang="en-US"/>
              <a:pPr>
                <a:defRPr/>
              </a:pPr>
              <a:t>12/15/15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FBD6B9-3A33-4A94-B724-9A8AE8A254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277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D28BE-7261-4565-BDD9-9D13920F46F3}" type="datetime1">
              <a:rPr lang="en-US"/>
              <a:pPr>
                <a:defRPr/>
              </a:pPr>
              <a:t>12/15/15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F3FC6E-2B66-4D2D-9218-6A86576333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69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EF4F18-6076-4F4D-8701-7E7E46FB9673}" type="datetime1">
              <a:rPr lang="en-US"/>
              <a:pPr>
                <a:defRPr/>
              </a:pPr>
              <a:t>12/15/15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C73807-B068-4863-956B-F1B3361317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551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68202-4F72-4F7C-A5F1-E7B21F92F430}" type="datetime1">
              <a:rPr lang="en-US"/>
              <a:pPr>
                <a:defRPr/>
              </a:pPr>
              <a:t>12/15/15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F5520D-11A7-44C7-A268-AAA329E6ED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35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AA5998-59A9-4C76-B55B-B07AD0665B82}" type="datetime1">
              <a:rPr lang="en-US"/>
              <a:pPr>
                <a:defRPr/>
              </a:pPr>
              <a:t>12/15/15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EA0E33-B153-4585-A659-757BD76D8C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86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FA7D98-E199-4E72-A4FE-85F4B3A9BF25}" type="datetime1">
              <a:rPr lang="en-US"/>
              <a:pPr>
                <a:defRPr/>
              </a:pPr>
              <a:t>12/15/15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EC9DF-A8CA-492E-9A95-52D982BBB1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34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CD6C3C-A366-4DF9-81B4-5B0188B44BD9}" type="datetime1">
              <a:rPr lang="en-US"/>
              <a:pPr>
                <a:defRPr/>
              </a:pPr>
              <a:t>12/15/15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36EC8-B6B4-4047-8E94-DB4977AA8C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53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8308A0-081A-40E0-AB91-AE760FA81C51}" type="datetime1">
              <a:rPr lang="en-US"/>
              <a:pPr>
                <a:defRPr/>
              </a:pPr>
              <a:t>12/15/15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83A777-F07E-472E-A020-7B4D580524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34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4038600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990600"/>
            <a:ext cx="4038600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657600"/>
            <a:ext cx="4038600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657600"/>
            <a:ext cx="4038600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831DDB-45BE-4D5A-8382-8E06A7A6251F}" type="datetime1">
              <a:rPr lang="en-US"/>
              <a:pPr>
                <a:defRPr/>
              </a:pPr>
              <a:t>12/15/15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7F69CA-01CC-4DEF-B5D8-B239B6D1E8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99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990600"/>
            <a:ext cx="82296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7832353-B273-4796-B91B-464BBEE56517}" type="datetime1">
              <a:rPr lang="en-US"/>
              <a:pPr>
                <a:defRPr/>
              </a:pPr>
              <a:t>12/15/15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@Your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34D79D8-E937-4F7F-B5D1-0FDC90AE5A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2" r:id="rId1"/>
    <p:sldLayoutId id="2147484123" r:id="rId2"/>
    <p:sldLayoutId id="2147484113" r:id="rId3"/>
    <p:sldLayoutId id="2147484114" r:id="rId4"/>
    <p:sldLayoutId id="2147484115" r:id="rId5"/>
    <p:sldLayoutId id="2147484116" r:id="rId6"/>
    <p:sldLayoutId id="2147484117" r:id="rId7"/>
    <p:sldLayoutId id="2147484118" r:id="rId8"/>
    <p:sldLayoutId id="2147484119" r:id="rId9"/>
    <p:sldLayoutId id="2147484120" r:id="rId10"/>
    <p:sldLayoutId id="2147484121" r:id="rId11"/>
    <p:sldLayoutId id="2147484122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CC00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bigquery/third-party-tools" TargetMode="External"/><Relationship Id="rId4" Type="http://schemas.openxmlformats.org/officeDocument/2006/relationships/hyperlink" Target="https://github.com/GoogleCloudPlatform/java-docs-samples/tree/master/bigquery/src/main/java/com/google/cloud/bigquery/samples" TargetMode="External"/><Relationship Id="rId5" Type="http://schemas.openxmlformats.org/officeDocument/2006/relationships/hyperlink" Target="https://developers.google.com/resources/api-libraries/documentation/bigquery/v2/java/latest/" TargetMode="External"/><Relationship Id="rId6" Type="http://schemas.openxmlformats.org/officeDocument/2006/relationships/hyperlink" Target="http://httparchive.org/interesting.php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loud.google.com/bigquery/what-is-bigquery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LaEz-mcvIKk" TargetMode="External"/><Relationship Id="rId3" Type="http://schemas.openxmlformats.org/officeDocument/2006/relationships/hyperlink" Target="https://youtu.be/_zN6Vjo29y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2EDA8-4D42-4A3F-8044-C86141763805}" type="slidenum">
              <a:rPr lang="en-US" sz="1600" b="1"/>
              <a:pPr>
                <a:defRPr/>
              </a:pPr>
              <a:t>1</a:t>
            </a:fld>
            <a:endParaRPr lang="en-US" sz="1600" b="1" dirty="0"/>
          </a:p>
        </p:txBody>
      </p:sp>
      <p:sp>
        <p:nvSpPr>
          <p:cNvPr id="3075" name="Title 1"/>
          <p:cNvSpPr>
            <a:spLocks noGrp="1"/>
          </p:cNvSpPr>
          <p:nvPr>
            <p:ph type="ctrTitle"/>
          </p:nvPr>
        </p:nvSpPr>
        <p:spPr>
          <a:xfrm>
            <a:off x="647700" y="1219200"/>
            <a:ext cx="7772400" cy="1828800"/>
          </a:xfrm>
        </p:spPr>
        <p:txBody>
          <a:bodyPr/>
          <a:lstStyle/>
          <a:p>
            <a:pPr eaLnBrk="1" hangingPunct="1"/>
            <a:r>
              <a:rPr lang="en-US" altLang="en-US" sz="3200" dirty="0" smtClean="0"/>
              <a:t/>
            </a:r>
            <a:br>
              <a:rPr lang="en-US" altLang="en-US" sz="3200" dirty="0" smtClean="0"/>
            </a:br>
            <a:r>
              <a:rPr lang="en-US" altLang="en-US" sz="2400" dirty="0" smtClean="0"/>
              <a:t>Final Project</a:t>
            </a:r>
            <a:r>
              <a:rPr lang="en-US" altLang="en-US" sz="3200" dirty="0" smtClean="0"/>
              <a:t/>
            </a:r>
            <a:br>
              <a:rPr lang="en-US" altLang="en-US" sz="3200" dirty="0" smtClean="0"/>
            </a:br>
            <a:r>
              <a:rPr lang="en-US" altLang="en-US" sz="3200" dirty="0" smtClean="0"/>
              <a:t> Google </a:t>
            </a:r>
            <a:r>
              <a:rPr lang="en-US" altLang="en-US" sz="3200" dirty="0" err="1" smtClean="0"/>
              <a:t>BigQuery</a:t>
            </a:r>
            <a:r>
              <a:rPr lang="en-US" altLang="en-US" sz="3200" b="1" dirty="0" smtClean="0"/>
              <a:t/>
            </a:r>
            <a:br>
              <a:rPr lang="en-US" altLang="en-US" sz="3200" b="1" dirty="0" smtClean="0"/>
            </a:br>
            <a:r>
              <a:rPr lang="en-US" altLang="en-US" sz="3200" b="1" dirty="0" smtClean="0"/>
              <a:t/>
            </a:r>
            <a:br>
              <a:rPr lang="en-US" altLang="en-US" sz="3200" b="1" dirty="0" smtClean="0"/>
            </a:br>
            <a:endParaRPr lang="en-US" altLang="en-US" sz="3200" b="1" dirty="0" smtClean="0"/>
          </a:p>
        </p:txBody>
      </p:sp>
      <p:sp>
        <p:nvSpPr>
          <p:cNvPr id="3076" name="Subtitle 2"/>
          <p:cNvSpPr>
            <a:spLocks noGrp="1"/>
          </p:cNvSpPr>
          <p:nvPr>
            <p:ph type="subTitle" idx="1"/>
          </p:nvPr>
        </p:nvSpPr>
        <p:spPr>
          <a:xfrm>
            <a:off x="1333500" y="2438400"/>
            <a:ext cx="64008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err="1" smtClean="0">
                <a:solidFill>
                  <a:schemeClr val="tx2">
                    <a:lumMod val="75000"/>
                  </a:schemeClr>
                </a:solidFill>
              </a:rPr>
              <a:t>Hanjiao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 Qiu</a:t>
            </a:r>
          </a:p>
          <a:p>
            <a:pPr eaLnBrk="1" hangingPunct="1">
              <a:defRPr/>
            </a:pPr>
            <a:endParaRPr lang="en-US" sz="2400" b="1" dirty="0" smtClean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077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 smtClean="0">
                <a:solidFill>
                  <a:srgbClr val="898989"/>
                </a:solidFill>
              </a:rPr>
              <a:t>@</a:t>
            </a:r>
            <a:r>
              <a:rPr lang="en-US" altLang="en-US" sz="1200" dirty="0" err="1" smtClean="0">
                <a:solidFill>
                  <a:srgbClr val="898989"/>
                </a:solidFill>
              </a:rPr>
              <a:t>Hanjiao</a:t>
            </a:r>
            <a:r>
              <a:rPr lang="en-US" altLang="en-US" sz="1200" dirty="0" smtClean="0">
                <a:solidFill>
                  <a:srgbClr val="898989"/>
                </a:solidFill>
              </a:rPr>
              <a:t> Qiu</a:t>
            </a:r>
          </a:p>
        </p:txBody>
      </p:sp>
      <p:pic>
        <p:nvPicPr>
          <p:cNvPr id="3078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9225" y="3429000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055813" y="5029200"/>
            <a:ext cx="4949825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cscie90 Cloud Computing</a:t>
            </a:r>
          </a:p>
          <a:p>
            <a:pPr algn="ctr">
              <a:defRPr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Harvard University Extension School</a:t>
            </a:r>
          </a:p>
          <a:p>
            <a:pPr algn="ctr">
              <a:defRPr/>
            </a:pP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Prof.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</a:rPr>
              <a:t>Zoran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 B.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</a:rPr>
              <a:t>Djordjević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pPr algn="ctr">
              <a:defRPr/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123440" y="29362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-487680" y="35763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What’s </a:t>
            </a:r>
            <a:r>
              <a:rPr lang="en-US" b="1" dirty="0" err="1"/>
              <a:t>BigQuery</a:t>
            </a:r>
            <a:r>
              <a:rPr lang="en-US" b="1" dirty="0"/>
              <a:t>?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Service for interactive analysis of massive datasets (TBs)</a:t>
            </a:r>
          </a:p>
          <a:p>
            <a:pPr lvl="1"/>
            <a:r>
              <a:rPr lang="en-US" sz="2000" dirty="0"/>
              <a:t>Query billions of rows: seconds to write, seconds to return</a:t>
            </a:r>
          </a:p>
          <a:p>
            <a:pPr lvl="1"/>
            <a:r>
              <a:rPr lang="en-US" sz="2000" dirty="0"/>
              <a:t>Uses a SQL-style query syntax</a:t>
            </a:r>
          </a:p>
          <a:p>
            <a:pPr lvl="1"/>
            <a:r>
              <a:rPr lang="en-US" sz="2000" dirty="0"/>
              <a:t>It’s a service, accessed by a </a:t>
            </a:r>
            <a:r>
              <a:rPr lang="en-US" sz="2000" dirty="0" err="1"/>
              <a:t>RESTful</a:t>
            </a:r>
            <a:r>
              <a:rPr lang="en-US" sz="2000" dirty="0"/>
              <a:t> API</a:t>
            </a:r>
          </a:p>
          <a:p>
            <a:r>
              <a:rPr lang="en-US" sz="2400" b="1" dirty="0"/>
              <a:t>Reliable and secure</a:t>
            </a:r>
          </a:p>
          <a:p>
            <a:pPr lvl="1"/>
            <a:r>
              <a:rPr lang="en-US" sz="2000" dirty="0"/>
              <a:t>Replicated across multiple sites</a:t>
            </a:r>
          </a:p>
          <a:p>
            <a:pPr lvl="1"/>
            <a:r>
              <a:rPr lang="en-US" sz="2000" dirty="0"/>
              <a:t>Secured through Access Control Lists</a:t>
            </a:r>
          </a:p>
          <a:p>
            <a:r>
              <a:rPr lang="en-US" sz="2400" b="1" dirty="0" smtClean="0"/>
              <a:t>Large scale</a:t>
            </a:r>
            <a:endParaRPr lang="en-US" sz="2400" b="1" dirty="0"/>
          </a:p>
          <a:p>
            <a:pPr lvl="1"/>
            <a:r>
              <a:rPr lang="en-US" sz="2000" dirty="0"/>
              <a:t>Store hundreds of terabytes</a:t>
            </a:r>
          </a:p>
          <a:p>
            <a:pPr lvl="1"/>
            <a:r>
              <a:rPr lang="en-US" sz="2000" dirty="0"/>
              <a:t>Pay only for what you use</a:t>
            </a:r>
          </a:p>
          <a:p>
            <a:r>
              <a:rPr lang="en-US" sz="2400" b="1" dirty="0" smtClean="0"/>
              <a:t>Super fast </a:t>
            </a:r>
            <a:endParaRPr lang="en-US" sz="2400" b="1" dirty="0"/>
          </a:p>
          <a:p>
            <a:pPr lvl="1"/>
            <a:r>
              <a:rPr lang="en-US" sz="2000" dirty="0" smtClean="0"/>
              <a:t>Run </a:t>
            </a:r>
            <a:r>
              <a:rPr lang="en-US" sz="2000" dirty="0"/>
              <a:t>ad hoc queries on multi-terabyte data sets in seconds</a:t>
            </a:r>
          </a:p>
          <a:p>
            <a:pPr lvl="1"/>
            <a:r>
              <a:rPr lang="en-US" sz="2000" dirty="0" smtClean="0"/>
              <a:t>1.4 </a:t>
            </a:r>
            <a:r>
              <a:rPr lang="en-US" sz="2000" dirty="0"/>
              <a:t>TB data: on an average its within </a:t>
            </a:r>
            <a:r>
              <a:rPr lang="en-US" sz="2000" dirty="0" smtClean="0"/>
              <a:t>8 ~ 10 seconds!!</a:t>
            </a:r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 smtClean="0">
                <a:solidFill>
                  <a:srgbClr val="898989"/>
                </a:solidFill>
              </a:rPr>
              <a:t>@</a:t>
            </a:r>
            <a:r>
              <a:rPr lang="en-US" altLang="en-US" sz="1200" dirty="0" err="1" smtClean="0">
                <a:solidFill>
                  <a:srgbClr val="898989"/>
                </a:solidFill>
              </a:rPr>
              <a:t>Hanjiao</a:t>
            </a:r>
            <a:r>
              <a:rPr lang="en-US" altLang="en-US" sz="1200" dirty="0" smtClean="0">
                <a:solidFill>
                  <a:srgbClr val="898989"/>
                </a:solidFill>
              </a:rPr>
              <a:t> Qiu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Inside </a:t>
            </a:r>
            <a:r>
              <a:rPr lang="en-US" dirty="0" err="1" smtClean="0"/>
              <a:t>BigQuery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used </a:t>
            </a:r>
            <a:r>
              <a:rPr lang="en-US" b="1" dirty="0"/>
              <a:t>Columnar storage</a:t>
            </a:r>
            <a:r>
              <a:rPr lang="en-US" dirty="0"/>
              <a:t> &amp; </a:t>
            </a:r>
            <a:r>
              <a:rPr lang="en-US" b="1" dirty="0"/>
              <a:t>multi-level execution trees</a:t>
            </a:r>
            <a:r>
              <a:rPr lang="en-US" dirty="0"/>
              <a:t> to achieve interactive performance for queries against multi-terabytes datasets.</a:t>
            </a:r>
            <a:endParaRPr lang="en-US" dirty="0" smtClean="0"/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 smtClean="0">
                <a:solidFill>
                  <a:srgbClr val="898989"/>
                </a:solidFill>
              </a:rPr>
              <a:t>@</a:t>
            </a:r>
            <a:r>
              <a:rPr lang="en-US" altLang="en-US" sz="1200" dirty="0" err="1" smtClean="0">
                <a:solidFill>
                  <a:srgbClr val="898989"/>
                </a:solidFill>
              </a:rPr>
              <a:t>Hanjiao</a:t>
            </a:r>
            <a:r>
              <a:rPr lang="en-US" altLang="en-US" sz="1200" dirty="0" smtClean="0">
                <a:solidFill>
                  <a:srgbClr val="898989"/>
                </a:solidFill>
              </a:rPr>
              <a:t> Qiu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8" name="Picture 7" descr="../../../../../Desktop/Screen%20Shot%202015-12-15%20at%209.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8" y="1752600"/>
            <a:ext cx="4489132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../../../../../Desktop/Screen%20Shot%202015-12-15%20at%209.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3357960"/>
            <a:ext cx="5105400" cy="2743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5296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Three ways to </a:t>
            </a:r>
            <a:r>
              <a:rPr lang="en-US" smtClean="0"/>
              <a:t>access </a:t>
            </a:r>
            <a:r>
              <a:rPr lang="en-US" dirty="0" err="1" smtClean="0"/>
              <a:t>BigQuery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Web UI</a:t>
            </a:r>
          </a:p>
          <a:p>
            <a:r>
              <a:rPr lang="en-US" sz="2400" dirty="0" err="1" smtClean="0"/>
              <a:t>bq</a:t>
            </a:r>
            <a:r>
              <a:rPr lang="en-US" sz="2400" dirty="0" smtClean="0"/>
              <a:t> command line tool</a:t>
            </a:r>
          </a:p>
          <a:p>
            <a:r>
              <a:rPr lang="en-US" sz="2400" dirty="0" err="1" smtClean="0"/>
              <a:t>BigQuery</a:t>
            </a:r>
            <a:r>
              <a:rPr lang="en-US" sz="2400" dirty="0" smtClean="0"/>
              <a:t> API</a:t>
            </a:r>
          </a:p>
          <a:p>
            <a:r>
              <a:rPr lang="en-US" sz="2400" dirty="0" smtClean="0"/>
              <a:t>Interact with third party tools</a:t>
            </a:r>
          </a:p>
          <a:p>
            <a:pPr lvl="1"/>
            <a:r>
              <a:rPr lang="en-US" sz="2000" dirty="0"/>
              <a:t>Visualization and business intelligence tools</a:t>
            </a:r>
          </a:p>
          <a:p>
            <a:pPr lvl="1"/>
            <a:r>
              <a:rPr lang="en-US" sz="2000" dirty="0"/>
              <a:t>ETL tools for loading data into </a:t>
            </a:r>
            <a:r>
              <a:rPr lang="en-US" sz="2000" dirty="0" err="1"/>
              <a:t>BigQuery</a:t>
            </a:r>
            <a:endParaRPr lang="en-US" sz="2000" dirty="0"/>
          </a:p>
          <a:p>
            <a:pPr lvl="1"/>
            <a:r>
              <a:rPr lang="en-US" sz="2000" dirty="0"/>
              <a:t>Connectors and developer </a:t>
            </a:r>
            <a:r>
              <a:rPr lang="en-US" sz="2000" dirty="0" smtClean="0"/>
              <a:t>tools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@Your Name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C3E294-9E12-4E24-B275-9BA1AC14E86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001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 to solve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Search </a:t>
            </a:r>
            <a:r>
              <a:rPr lang="en-US" sz="2400" dirty="0"/>
              <a:t>and sort the popular CDN (Content Delivery Network) </a:t>
            </a:r>
            <a:r>
              <a:rPr lang="en-US" sz="2400" dirty="0" smtClean="0"/>
              <a:t>providers, top </a:t>
            </a:r>
            <a:r>
              <a:rPr lang="en-US" sz="2400" dirty="0"/>
              <a:t>sites to have content security policy to prevent XSS and explore other web behaviors. </a:t>
            </a: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r>
              <a:rPr lang="en-US" sz="2400" dirty="0" smtClean="0"/>
              <a:t>Do </a:t>
            </a:r>
            <a:r>
              <a:rPr lang="en-US" sz="2400" dirty="0"/>
              <a:t>real-time system log analysis, execute queries and visualize the log data through interacting with the </a:t>
            </a:r>
            <a:r>
              <a:rPr lang="en-US" sz="2400" dirty="0" err="1"/>
              <a:t>BigQuery</a:t>
            </a:r>
            <a:r>
              <a:rPr lang="en-US" sz="2400" dirty="0"/>
              <a:t> in Google sheets.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@Your Name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C3E294-9E12-4E24-B275-9BA1AC14E86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506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 through Web UI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Show popularity of CDN providers!</a:t>
            </a:r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 smtClean="0">
                <a:solidFill>
                  <a:srgbClr val="898989"/>
                </a:solidFill>
              </a:rPr>
              <a:t>@</a:t>
            </a:r>
            <a:r>
              <a:rPr lang="en-US" altLang="en-US" sz="1200" dirty="0" err="1" smtClean="0">
                <a:solidFill>
                  <a:srgbClr val="898989"/>
                </a:solidFill>
              </a:rPr>
              <a:t>Hanjiao</a:t>
            </a:r>
            <a:r>
              <a:rPr lang="en-US" altLang="en-US" sz="1200" dirty="0" smtClean="0">
                <a:solidFill>
                  <a:srgbClr val="898989"/>
                </a:solidFill>
              </a:rPr>
              <a:t> Qiu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11" name="Picture 10" descr="pics/Screen%20Shot%202015-12-13%20at%204.47.02%20PM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547" y="1632284"/>
            <a:ext cx="4953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pics/Screen%20Shot%202015-12-13%20at%203.34.27%20PM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3124200" cy="2590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07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Visualize results through Google sheet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Execute </a:t>
            </a:r>
            <a:r>
              <a:rPr lang="en-US" dirty="0" err="1" smtClean="0"/>
              <a:t>BigQuery</a:t>
            </a:r>
            <a:r>
              <a:rPr lang="en-US" dirty="0" smtClean="0"/>
              <a:t> and visualize results in Google sheet!</a:t>
            </a:r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 smtClean="0">
                <a:solidFill>
                  <a:srgbClr val="898989"/>
                </a:solidFill>
              </a:rPr>
              <a:t>@</a:t>
            </a:r>
            <a:r>
              <a:rPr lang="en-US" altLang="en-US" sz="1200" dirty="0" err="1" smtClean="0">
                <a:solidFill>
                  <a:srgbClr val="898989"/>
                </a:solidFill>
              </a:rPr>
              <a:t>Hanjiao</a:t>
            </a:r>
            <a:r>
              <a:rPr lang="en-US" altLang="en-US" sz="1200" dirty="0" smtClean="0">
                <a:solidFill>
                  <a:srgbClr val="898989"/>
                </a:solidFill>
              </a:rPr>
              <a:t> Qiu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617154"/>
            <a:ext cx="7391400" cy="395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758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 through </a:t>
            </a:r>
            <a:r>
              <a:rPr lang="en-US" dirty="0" err="1" smtClean="0"/>
              <a:t>bq</a:t>
            </a:r>
            <a:r>
              <a:rPr lang="en-US" dirty="0" smtClean="0"/>
              <a:t> command line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Query directly through the command line!</a:t>
            </a:r>
          </a:p>
          <a:p>
            <a:endParaRPr lang="en-US" dirty="0" smtClean="0"/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 smtClean="0">
                <a:solidFill>
                  <a:srgbClr val="898989"/>
                </a:solidFill>
              </a:rPr>
              <a:t>@</a:t>
            </a:r>
            <a:r>
              <a:rPr lang="en-US" altLang="en-US" sz="1200" dirty="0" err="1" smtClean="0">
                <a:solidFill>
                  <a:srgbClr val="898989"/>
                </a:solidFill>
              </a:rPr>
              <a:t>Hanjiao</a:t>
            </a:r>
            <a:r>
              <a:rPr lang="en-US" altLang="en-US" sz="1200" dirty="0" smtClean="0">
                <a:solidFill>
                  <a:srgbClr val="898989"/>
                </a:solidFill>
              </a:rPr>
              <a:t> Qiu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8" name="Picture 7" descr="pics/Screen%20Shot%202015-12-11%20at%202.49.40%20PM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00200"/>
            <a:ext cx="5909945" cy="1602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pics/Screen%20Shot%202015-12-11%20at%202.19.48%20PM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436937"/>
            <a:ext cx="6324600" cy="18208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7182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 through </a:t>
            </a:r>
            <a:r>
              <a:rPr lang="en-US" dirty="0" err="1" smtClean="0"/>
              <a:t>RESTful</a:t>
            </a:r>
            <a:r>
              <a:rPr lang="en-US" dirty="0" smtClean="0"/>
              <a:t> API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Interacting with Google </a:t>
            </a:r>
            <a:r>
              <a:rPr lang="en-US" dirty="0" err="1" smtClean="0"/>
              <a:t>BigQuery</a:t>
            </a:r>
            <a:r>
              <a:rPr lang="en-US" dirty="0" smtClean="0"/>
              <a:t> using Java!</a:t>
            </a:r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 smtClean="0">
                <a:solidFill>
                  <a:srgbClr val="898989"/>
                </a:solidFill>
              </a:rPr>
              <a:t>@</a:t>
            </a:r>
            <a:r>
              <a:rPr lang="en-US" altLang="en-US" sz="1200" dirty="0" err="1" smtClean="0">
                <a:solidFill>
                  <a:srgbClr val="898989"/>
                </a:solidFill>
              </a:rPr>
              <a:t>Hanjiao</a:t>
            </a:r>
            <a:r>
              <a:rPr lang="en-US" altLang="en-US" sz="1200" dirty="0" smtClean="0">
                <a:solidFill>
                  <a:srgbClr val="898989"/>
                </a:solidFill>
              </a:rPr>
              <a:t> Qiu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24000"/>
            <a:ext cx="8090129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606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through </a:t>
            </a:r>
            <a:r>
              <a:rPr lang="en-US" dirty="0" err="1"/>
              <a:t>RESTful</a:t>
            </a:r>
            <a:r>
              <a:rPr lang="en-US" dirty="0"/>
              <a:t> API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@</a:t>
            </a:r>
            <a:r>
              <a:rPr lang="en-US" dirty="0" err="1" smtClean="0"/>
              <a:t>Hanjiao</a:t>
            </a:r>
            <a:r>
              <a:rPr lang="en-US" dirty="0" smtClean="0"/>
              <a:t> Qiu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C3E294-9E12-4E24-B275-9BA1AC14E86B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6" name="Content Placeholder 5" descr="pics/Screen%20Shot%202015-12-13%20at%205.16.37%20PM.png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36880"/>
            <a:ext cx="8229600" cy="45192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3125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cases: Real-time log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@</a:t>
            </a:r>
            <a:r>
              <a:rPr lang="en-US" dirty="0" err="1" smtClean="0"/>
              <a:t>Hanjiao</a:t>
            </a:r>
            <a:r>
              <a:rPr lang="en-US" dirty="0" smtClean="0"/>
              <a:t> Qiu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C3E294-9E12-4E24-B275-9BA1AC14E86B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6" name="Content Placeholder 5" descr="pics/Screen%20Shot%202015-12-13%20at%202.57.34%20PM.png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60" y="3271810"/>
            <a:ext cx="4302760" cy="2128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pics/Screen%20Shot%202015-12-13%20at%203.11.12%20PM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357880"/>
            <a:ext cx="3810000" cy="204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pics/Screen%20Shot%202015-12-13%20at%203.10.59%20PM.pn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219200"/>
            <a:ext cx="5486400" cy="1780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5191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u="sng" dirty="0">
                <a:hlinkClick r:id="rId2"/>
              </a:rPr>
              <a:t>https://</a:t>
            </a:r>
            <a:r>
              <a:rPr lang="en-US" u="sng" dirty="0" smtClean="0">
                <a:hlinkClick r:id="rId2"/>
              </a:rPr>
              <a:t>cloud.google.com/bigquery/what-is-bigquery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u="sng" dirty="0">
                <a:hlinkClick r:id="rId3"/>
              </a:rPr>
              <a:t>https://</a:t>
            </a:r>
            <a:r>
              <a:rPr lang="en-US" u="sng" dirty="0" smtClean="0">
                <a:hlinkClick r:id="rId3"/>
              </a:rPr>
              <a:t>cloud.google.com/bigquery/third-party-tools</a:t>
            </a:r>
            <a:endParaRPr lang="en-US" u="sng" dirty="0" smtClean="0">
              <a:hlinkClick r:id="rId4"/>
            </a:endParaRPr>
          </a:p>
          <a:p>
            <a:pPr>
              <a:lnSpc>
                <a:spcPct val="150000"/>
              </a:lnSpc>
            </a:pPr>
            <a:r>
              <a:rPr lang="en-US" u="sng" dirty="0" smtClean="0">
                <a:hlinkClick r:id="rId4"/>
              </a:rPr>
              <a:t>https</a:t>
            </a:r>
            <a:r>
              <a:rPr lang="en-US" u="sng" dirty="0">
                <a:hlinkClick r:id="rId4"/>
              </a:rPr>
              <a:t>://</a:t>
            </a:r>
            <a:r>
              <a:rPr lang="en-US" u="sng" dirty="0" smtClean="0">
                <a:hlinkClick r:id="rId4"/>
              </a:rPr>
              <a:t>github.com/GoogleCloudPlatform/java-docs-samples/tree/master/bigquery/src/main/java/com/google/cloud/bigquery/samples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u="sng" dirty="0">
                <a:hlinkClick r:id="rId5"/>
              </a:rPr>
              <a:t>https://developers.google.com/resources/api-libraries/documentation/bigquery/v2/java/latest</a:t>
            </a:r>
            <a:r>
              <a:rPr lang="en-US" u="sng" dirty="0" smtClean="0">
                <a:hlinkClick r:id="rId5"/>
              </a:rPr>
              <a:t>/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u="sng" dirty="0">
                <a:hlinkClick r:id="rId6"/>
              </a:rPr>
              <a:t>http://httparchive.org/interesting.php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@Your Name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C3E294-9E12-4E24-B275-9BA1AC14E86B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176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Videos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Short video</a:t>
            </a:r>
            <a:r>
              <a:rPr lang="en-US" dirty="0" smtClean="0"/>
              <a:t>: </a:t>
            </a:r>
            <a:r>
              <a:rPr lang="en-US" u="sng" dirty="0">
                <a:hlinkClick r:id="rId2"/>
              </a:rPr>
              <a:t>https://</a:t>
            </a:r>
            <a:r>
              <a:rPr lang="en-US" u="sng" dirty="0" smtClean="0">
                <a:hlinkClick r:id="rId2"/>
              </a:rPr>
              <a:t>youtu.be/LaEz-mcvIKk</a:t>
            </a:r>
            <a:endParaRPr lang="en-US" dirty="0" smtClean="0"/>
          </a:p>
          <a:p>
            <a:r>
              <a:rPr lang="en-US" dirty="0" smtClean="0"/>
              <a:t>Full </a:t>
            </a:r>
            <a:r>
              <a:rPr lang="en-US" dirty="0"/>
              <a:t>video</a:t>
            </a:r>
            <a:r>
              <a:rPr lang="en-US" dirty="0" smtClean="0"/>
              <a:t>: </a:t>
            </a:r>
            <a:r>
              <a:rPr lang="en-US" u="sng" dirty="0">
                <a:hlinkClick r:id="rId3"/>
              </a:rPr>
              <a:t>https://youtu.be/_</a:t>
            </a:r>
            <a:r>
              <a:rPr lang="en-US" u="sng" dirty="0" smtClean="0">
                <a:hlinkClick r:id="rId3"/>
              </a:rPr>
              <a:t>zN6Vjo29yU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@</a:t>
            </a:r>
            <a:r>
              <a:rPr lang="en-US" dirty="0" err="1" smtClean="0"/>
              <a:t>Hanjiao</a:t>
            </a:r>
            <a:r>
              <a:rPr lang="en-US" dirty="0" smtClean="0"/>
              <a:t> Qiu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C3E294-9E12-4E24-B275-9BA1AC14E86B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22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9434</TotalTime>
  <Words>354</Words>
  <Application>Microsoft Macintosh PowerPoint</Application>
  <PresentationFormat>On-screen Show (4:3)</PresentationFormat>
  <Paragraphs>79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Wingdings</vt:lpstr>
      <vt:lpstr>Arial</vt:lpstr>
      <vt:lpstr>Office Theme</vt:lpstr>
      <vt:lpstr> Final Project  Google BigQuery  </vt:lpstr>
      <vt:lpstr>What’s BigQuery?</vt:lpstr>
      <vt:lpstr>Inside BigQuery</vt:lpstr>
      <vt:lpstr>Three ways to access BigQuery</vt:lpstr>
      <vt:lpstr>Problems to solve</vt:lpstr>
      <vt:lpstr>Query through Web UI</vt:lpstr>
      <vt:lpstr>Visualize results through Google sheet</vt:lpstr>
      <vt:lpstr>Query through bq command line</vt:lpstr>
      <vt:lpstr>Query through RESTful API</vt:lpstr>
      <vt:lpstr>Query through RESTful API</vt:lpstr>
      <vt:lpstr>Use cases: Real-time log analysis</vt:lpstr>
      <vt:lpstr>References</vt:lpstr>
      <vt:lpstr>Videos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zdjordje</dc:creator>
  <cp:lastModifiedBy>Qiu, Hanjiao</cp:lastModifiedBy>
  <cp:revision>906</cp:revision>
  <cp:lastPrinted>2012-11-30T20:59:45Z</cp:lastPrinted>
  <dcterms:created xsi:type="dcterms:W3CDTF">2006-08-16T00:00:00Z</dcterms:created>
  <dcterms:modified xsi:type="dcterms:W3CDTF">2015-12-15T20:26:53Z</dcterms:modified>
</cp:coreProperties>
</file>